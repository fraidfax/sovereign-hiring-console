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1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E2761"/>
                </a:solidFill>
                <a:latin typeface="Calibri"/>
              </a:defRPr>
            </a:pPr>
            <a:r>
              <a:rPr sz="1300" b="0" i="0" u="none" strike="noStrike">
                <a:solidFill>
                  <a:srgbClr val="1E2761"/>
                </a:solidFill>
                <a:latin typeface="Calibri"/>
              </a:rPr>
              <a:t>Candidate score, sorted (full explanation available for every bar)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Score</c:v>
                </c:pt>
              </c:strCache>
            </c:strRef>
          </c:tx>
          <c:spPr>
            <a:solidFill>
              <a:srgbClr val="1E2761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5B6B8C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Sheet1!$A$2:$A$15</c:f>
              <c:multiLvlStrCache>
                <c:ptCount val="14"/>
                <c:lvl>
                  <c:pt idx="0">
                    <c:v>01</c:v>
                  </c:pt>
                  <c:pt idx="1">
                    <c:v>02</c:v>
                  </c:pt>
                  <c:pt idx="2">
                    <c:v>03</c:v>
                  </c:pt>
                  <c:pt idx="3">
                    <c:v>04</c:v>
                  </c:pt>
                  <c:pt idx="4">
                    <c:v>05</c:v>
                  </c:pt>
                  <c:pt idx="5">
                    <c:v>06</c:v>
                  </c:pt>
                  <c:pt idx="6">
                    <c:v>07</c:v>
                  </c:pt>
                  <c:pt idx="7">
                    <c:v>08</c:v>
                  </c:pt>
                  <c:pt idx="8">
                    <c:v>09</c:v>
                  </c:pt>
                  <c:pt idx="9">
                    <c:v>10</c:v>
                  </c:pt>
                  <c:pt idx="10">
                    <c:v>11</c:v>
                  </c:pt>
                  <c:pt idx="11">
                    <c:v>12</c:v>
                  </c:pt>
                  <c:pt idx="12">
                    <c:v>13</c:v>
                  </c:pt>
                  <c:pt idx="13">
                    <c:v>14</c:v>
                  </c:pt>
                </c:lvl>
              </c:multiLvlStrCache>
            </c:multiLvlStrRef>
          </c:cat>
          <c:val>
            <c:numRef>
              <c:f>Sheet1!$B$2:$B$15</c:f>
              <c:numCache>
                <c:formatCode>General</c:formatCode>
                <c:ptCount val="14"/>
                <c:pt idx="0">
                  <c:v>93.3</c:v>
                </c:pt>
                <c:pt idx="1">
                  <c:v>88.3</c:v>
                </c:pt>
                <c:pt idx="2">
                  <c:v>86.7</c:v>
                </c:pt>
                <c:pt idx="3">
                  <c:v>85</c:v>
                </c:pt>
                <c:pt idx="4">
                  <c:v>80</c:v>
                </c:pt>
                <c:pt idx="5">
                  <c:v>78.3</c:v>
                </c:pt>
                <c:pt idx="6">
                  <c:v>71.7</c:v>
                </c:pt>
                <c:pt idx="7">
                  <c:v>70</c:v>
                </c:pt>
                <c:pt idx="8">
                  <c:v>63.3</c:v>
                </c:pt>
                <c:pt idx="9">
                  <c:v>55</c:v>
                </c:pt>
                <c:pt idx="10">
                  <c:v>50</c:v>
                </c:pt>
                <c:pt idx="11">
                  <c:v>46.7</c:v>
                </c:pt>
                <c:pt idx="12">
                  <c:v>26.7</c:v>
                </c:pt>
                <c:pt idx="13">
                  <c:v>13.3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5B6B8C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B8C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  <c:min val="0"/>
        </c:scaling>
        <c:delete val="0"/>
        <c:axPos val="l"/>
        <c:majorGridlines>
          <c:spPr>
            <a:ln w="12700" cap="flat">
              <a:solidFill>
                <a:srgbClr val="E7EAF2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B8C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 w="12700" cap="flat">
          <a:solidFill>
            <a:srgbClr val="FFFFFF"/>
          </a:solidFill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 with the hook: HR screening is one of the EU AI Act's named high-risk uses of AI. We built a hiring console that proves, on screen, that sensitive data stays under control and a human always makes the call.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Name the regulation up front: EU AI Act Annex III makes employment screening high-risk AI, Article 14 requires human oversight, GDPR Article 22 bans solely-automated rejection, Article 5 requires data minimisation. These four bullets are the bar the whole product is designed against.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Three pillars, in the order the data actually flows: redact, then score, then a human decides. Each pillar is a real, running piece of the demo, not a slide-only claim.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screenshot is the actual running app. Point at the explanation text: every one of the point totals in the score is named in the sentence next to it. Then point at the bias-check table — it's computed from the unredacted records server-side, only to prove the ranking doesn't quietly favor a group, and it's never used to re-identify anyone.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exact card from the running app. Walk through the redacted-fields disclosure, then the reject reason at the bottom: the AI ranked this candidate first, a human said no anyway, and the app made them write down why because it was a top-3 override — that's Article 22 and Annex III satisfied in one screenshot.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Audit Log tab of the same running app. Every rank, every approval, every rejection with its reason — append-only, human-readable, and in the target Azure design this file lives in immutable storage so it can't be edited after the fact.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Fourteen candidates, ranked in milliseconds, every bar backed by the same named-criteria explanation from the previous slide. This is the speed benefit — but the ranking is a starting point for the recruiter, not the outcome, which is the whole point of the human-veto step.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design, not deployment — there's no Azure subscription in this build environment, and the demo is honest about that. Confidential Compute plus customer-managed keys means even Microsoft can't read candidate data at rest; immutable storage means the audit log this app already writes can't be edited after the fact in production.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the four judging bullets in order and point back at the exact slide/screenshot that proves each one — don't just assert them again here.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on the run command — it's a genuine invitation for judges to click through the demo themselves during Q&amp;A, not just watch a recording.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463040"/>
            <a:ext cx="4754880" cy="4754880"/>
          </a:xfrm>
          <a:prstGeom prst="ellipse">
            <a:avLst/>
          </a:prstGeom>
          <a:solidFill>
            <a:srgbClr val="141B45"/>
          </a:solidFill>
          <a:ln/>
        </p:spPr>
      </p:sp>
      <p:sp>
        <p:nvSpPr>
          <p:cNvPr id="3" name="Shape 1"/>
          <p:cNvSpPr/>
          <p:nvPr/>
        </p:nvSpPr>
        <p:spPr>
          <a:xfrm>
            <a:off x="-1645920" y="4572000"/>
            <a:ext cx="4023360" cy="4023360"/>
          </a:xfrm>
          <a:prstGeom prst="ellipse">
            <a:avLst/>
          </a:prstGeom>
          <a:solidFill>
            <a:srgbClr val="141B45"/>
          </a:solidFill>
          <a:ln/>
        </p:spPr>
      </p:sp>
      <p:sp>
        <p:nvSpPr>
          <p:cNvPr id="4" name="Shape 2"/>
          <p:cNvSpPr/>
          <p:nvPr/>
        </p:nvSpPr>
        <p:spPr>
          <a:xfrm>
            <a:off x="822960" y="777240"/>
            <a:ext cx="914400" cy="914400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22960" y="77724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🔒</a:t>
            </a:r>
            <a:endParaRPr lang="en-US" sz="26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196596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spc="2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 DATA SOVEREIGNTY CHALLENGE  —  HR / TALENT SCENARIO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2377440"/>
            <a:ext cx="106070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Sovereign Hiring Console</a:t>
            </a:r>
            <a:endParaRPr lang="en-US" sz="54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3703320"/>
            <a:ext cx="9875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AI that ranks candidates without ever seeing who they are — and never has the final word.</a:t>
            </a:r>
            <a:endParaRPr lang="en-US" sz="20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59893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FA6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becomes possible when trust is built in?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hiring is high-risk — by law, not just by reputation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71600"/>
            <a:ext cx="640080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Organisations want AI to speed up screening. Regulators require organisations to prove the AI didn't quietly make the decision, and didn't need a candidate's identity to do its job. Most hiring tools can't show either.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48640" y="3154680"/>
            <a:ext cx="6400800" cy="960120"/>
          </a:xfrm>
          <a:prstGeom prst="roundRect">
            <a:avLst>
              <a:gd name="adj" fmla="val 7619"/>
            </a:avLst>
          </a:prstGeom>
          <a:solidFill>
            <a:srgbClr val="F5F7FC"/>
          </a:solidFill>
          <a:ln w="12700">
            <a:solidFill>
              <a:srgbClr val="E1E6F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3227832"/>
            <a:ext cx="5943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 AI Act — Annex III &amp; Art. 14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3520440"/>
            <a:ext cx="5943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Employment screening is explicitly high-risk AI; human oversight is a legal requirement, not a nice-to-have.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548640" y="4251960"/>
            <a:ext cx="6400800" cy="960120"/>
          </a:xfrm>
          <a:prstGeom prst="roundRect">
            <a:avLst>
              <a:gd name="adj" fmla="val 7619"/>
            </a:avLst>
          </a:prstGeom>
          <a:solidFill>
            <a:srgbClr val="F5F7FC"/>
          </a:solidFill>
          <a:ln w="12700">
            <a:solidFill>
              <a:srgbClr val="E1E6F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77240" y="4325112"/>
            <a:ext cx="5943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GDPR — Art. 22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777240" y="4617720"/>
            <a:ext cx="5943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candidate may be rejected by a solely automated decision.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548640" y="5349240"/>
            <a:ext cx="6400800" cy="960120"/>
          </a:xfrm>
          <a:prstGeom prst="roundRect">
            <a:avLst>
              <a:gd name="adj" fmla="val 7619"/>
            </a:avLst>
          </a:prstGeom>
          <a:solidFill>
            <a:srgbClr val="F5F7FC"/>
          </a:solidFill>
          <a:ln w="12700">
            <a:solidFill>
              <a:srgbClr val="E1E6F2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77240" y="5422392"/>
            <a:ext cx="5943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GDPR — Art. 5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777240" y="5715000"/>
            <a:ext cx="5943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minimisation: don't process personal data the task doesn't need.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7360920" y="1371600"/>
            <a:ext cx="4251960" cy="4846320"/>
          </a:xfrm>
          <a:prstGeom prst="roundRect">
            <a:avLst>
              <a:gd name="adj" fmla="val 2151"/>
            </a:avLst>
          </a:prstGeom>
          <a:solidFill>
            <a:srgbClr val="1E2761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7680960" y="164592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bar we set ourselves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7680960" y="2331720"/>
            <a:ext cx="384048" cy="384048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7680960" y="233172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8211312" y="2313432"/>
            <a:ext cx="3200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where the data lives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7680960" y="3291840"/>
            <a:ext cx="384048" cy="384048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7680960" y="329184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20" name="Text 18"/>
          <p:cNvSpPr txBox="1"/>
          <p:nvPr/>
        </p:nvSpPr>
        <p:spPr>
          <a:xfrm>
            <a:off x="8211312" y="3273552"/>
            <a:ext cx="3200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 one privacy technique — don't just claim it</a:t>
            </a:r>
            <a:endParaRPr lang="en-US" sz="1350" dirty="0"/>
          </a:p>
        </p:txBody>
      </p:sp>
      <p:sp>
        <p:nvSpPr>
          <p:cNvPr id="21" name="Shape 19"/>
          <p:cNvSpPr/>
          <p:nvPr/>
        </p:nvSpPr>
        <p:spPr>
          <a:xfrm>
            <a:off x="7680960" y="4251960"/>
            <a:ext cx="384048" cy="384048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7680960" y="425196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23" name="Text 21"/>
          <p:cNvSpPr txBox="1"/>
          <p:nvPr/>
        </p:nvSpPr>
        <p:spPr>
          <a:xfrm>
            <a:off x="8211312" y="4233672"/>
            <a:ext cx="3200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a human in the loop for the decision that matters</a:t>
            </a:r>
            <a:endParaRPr lang="en-US" sz="1350" dirty="0"/>
          </a:p>
        </p:txBody>
      </p:sp>
      <p:sp>
        <p:nvSpPr>
          <p:cNvPr id="24" name="Shape 22"/>
          <p:cNvSpPr/>
          <p:nvPr/>
        </p:nvSpPr>
        <p:spPr>
          <a:xfrm>
            <a:off x="7680960" y="5212080"/>
            <a:ext cx="384048" cy="384048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7680960" y="521208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26" name="Text 24"/>
          <p:cNvSpPr txBox="1"/>
          <p:nvPr/>
        </p:nvSpPr>
        <p:spPr>
          <a:xfrm>
            <a:off x="8211312" y="5193792"/>
            <a:ext cx="3200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 the regulation we're designing for</a:t>
            </a:r>
            <a:endParaRPr lang="en-US" sz="1350" dirty="0"/>
          </a:p>
        </p:txBody>
      </p:sp>
      <p:sp>
        <p:nvSpPr>
          <p:cNvPr id="27" name="Text 25"/>
          <p:cNvSpPr txBox="1"/>
          <p:nvPr/>
        </p:nvSpPr>
        <p:spPr>
          <a:xfrm>
            <a:off x="11551615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Sovereign Hiring Console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234440"/>
            <a:ext cx="10789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recruiter-facing screening tool that redacts every identifying field before an explainable, fully local rubric scores each candidate — and a named human must approve or reject every one.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48640" y="2331720"/>
            <a:ext cx="3429000" cy="3566160"/>
          </a:xfrm>
          <a:prstGeom prst="roundRect">
            <a:avLst>
              <a:gd name="adj" fmla="val 2667"/>
            </a:avLst>
          </a:prstGeom>
          <a:solidFill>
            <a:srgbClr val="F5F7FC"/>
          </a:solidFill>
          <a:ln w="12700">
            <a:solidFill>
              <a:srgbClr val="E1E6F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805940" y="2697480"/>
            <a:ext cx="914400" cy="9144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805940" y="269748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🛡</a:t>
            </a:r>
            <a:endParaRPr lang="en-US" sz="26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3794760"/>
            <a:ext cx="2971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Redact</a:t>
            </a:r>
            <a:endParaRPr lang="en-US" sz="1900" dirty="0"/>
          </a:p>
        </p:txBody>
      </p:sp>
      <p:sp>
        <p:nvSpPr>
          <p:cNvPr id="8" name="Text 6"/>
          <p:cNvSpPr txBox="1"/>
          <p:nvPr/>
        </p:nvSpPr>
        <p:spPr>
          <a:xfrm>
            <a:off x="868680" y="4343400"/>
            <a:ext cx="27889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PII fields stripped outright; free text is regex-scrubbed for names, ages, pronouns before the scorer ever sees it.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297680" y="2331720"/>
            <a:ext cx="3429000" cy="3566160"/>
          </a:xfrm>
          <a:prstGeom prst="roundRect">
            <a:avLst>
              <a:gd name="adj" fmla="val 2667"/>
            </a:avLst>
          </a:prstGeom>
          <a:solidFill>
            <a:srgbClr val="F5F7FC"/>
          </a:solidFill>
          <a:ln w="12700">
            <a:solidFill>
              <a:srgbClr val="E1E6F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554980" y="2697480"/>
            <a:ext cx="914400" cy="9144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5554980" y="269748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</a:t>
            </a:r>
            <a:endParaRPr lang="en-US" sz="2600" dirty="0"/>
          </a:p>
        </p:txBody>
      </p:sp>
      <p:sp>
        <p:nvSpPr>
          <p:cNvPr id="12" name="Text 10"/>
          <p:cNvSpPr txBox="1"/>
          <p:nvPr/>
        </p:nvSpPr>
        <p:spPr>
          <a:xfrm>
            <a:off x="4526280" y="3794760"/>
            <a:ext cx="2971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Score transparently</a:t>
            </a:r>
            <a:endParaRPr lang="en-US" sz="1900" dirty="0"/>
          </a:p>
        </p:txBody>
      </p:sp>
      <p:sp>
        <p:nvSpPr>
          <p:cNvPr id="13" name="Text 11"/>
          <p:cNvSpPr txBox="1"/>
          <p:nvPr/>
        </p:nvSpPr>
        <p:spPr>
          <a:xfrm>
            <a:off x="4617720" y="4343400"/>
            <a:ext cx="27889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deterministic rubric, not a black box — every point in every score is named in a plain-English explanation.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8046720" y="2331720"/>
            <a:ext cx="3429000" cy="3566160"/>
          </a:xfrm>
          <a:prstGeom prst="roundRect">
            <a:avLst>
              <a:gd name="adj" fmla="val 2667"/>
            </a:avLst>
          </a:prstGeom>
          <a:solidFill>
            <a:srgbClr val="F5F7FC"/>
          </a:solidFill>
          <a:ln w="12700">
            <a:solidFill>
              <a:srgbClr val="E1E6F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304020" y="2697480"/>
            <a:ext cx="914400" cy="9144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9304020" y="269748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👤</a:t>
            </a:r>
            <a:endParaRPr lang="en-US" sz="2600" dirty="0"/>
          </a:p>
        </p:txBody>
      </p:sp>
      <p:sp>
        <p:nvSpPr>
          <p:cNvPr id="17" name="Text 15"/>
          <p:cNvSpPr txBox="1"/>
          <p:nvPr/>
        </p:nvSpPr>
        <p:spPr>
          <a:xfrm>
            <a:off x="8275320" y="3794760"/>
            <a:ext cx="2971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Human decides</a:t>
            </a:r>
            <a:endParaRPr lang="en-US" sz="1900" dirty="0"/>
          </a:p>
        </p:txBody>
      </p:sp>
      <p:sp>
        <p:nvSpPr>
          <p:cNvPr id="18" name="Text 16"/>
          <p:cNvSpPr txBox="1"/>
          <p:nvPr/>
        </p:nvSpPr>
        <p:spPr>
          <a:xfrm>
            <a:off x="8366760" y="4343400"/>
            <a:ext cx="27889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candidate starts pending. Rejecting a top-3 score requires a written override reason.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11551615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Proof, not a promise: every score is explainable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5156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the live app, not a mockup. The rubric names exactly which requirements matched. A bias-check panel compares average scores across (unredacted, server-side-only) demographic groups to prove the redaction didn't leave a hidden gap.</a:t>
            </a:r>
            <a:endParaRPr lang="en-US" sz="1450" dirty="0"/>
          </a:p>
        </p:txBody>
      </p:sp>
      <p:sp>
        <p:nvSpPr>
          <p:cNvPr id="4" name="Shape 2"/>
          <p:cNvSpPr/>
          <p:nvPr/>
        </p:nvSpPr>
        <p:spPr>
          <a:xfrm>
            <a:off x="493776" y="1819656"/>
            <a:ext cx="6099048" cy="3550814"/>
          </a:xfrm>
          <a:prstGeom prst="rect">
            <a:avLst/>
          </a:prstGeom>
          <a:solidFill>
            <a:srgbClr val="FFFFFF"/>
          </a:solidFill>
          <a:ln w="12700">
            <a:solidFill>
              <a:srgbClr val="D6DCEE"/>
            </a:solidFill>
            <a:prstDash val="solid"/>
          </a:ln>
          <a:effectLst>
            <a:outerShdw sx="100000" sy="100000" kx="0" ky="0" algn="bl" rotWithShape="0" blurRad="127000" dist="38100" dir="5400000">
              <a:srgbClr val="8290B8">
                <a:alpha val="35000"/>
              </a:srgbClr>
            </a:outerShdw>
          </a:effectLst>
        </p:spPr>
      </p:sp>
      <p:pic>
        <p:nvPicPr>
          <p:cNvPr id="5" name="Image 0" descr="C:\Users\HAIRYG~1\AppData\Local\Temp\claude\C--Users-HairyGayMan6969-OneDrive-Desktop-Hackathon-AaltoAI-2026\f90e8f15-a270-4b9e-821a-c6d8ea44d249\scratchpad\shot_to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874520"/>
            <a:ext cx="5989320" cy="3441086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903720" y="2103120"/>
            <a:ext cx="47091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 spread across gender groups: 8.1 points on a 100-point scale — the redacted rubric doesn't systematically favor anyone.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6903720" y="3429000"/>
            <a:ext cx="4709160" cy="2651760"/>
          </a:xfrm>
          <a:prstGeom prst="roundRect">
            <a:avLst>
              <a:gd name="adj" fmla="val 2759"/>
            </a:avLst>
          </a:prstGeom>
          <a:solidFill>
            <a:srgbClr val="F5F7FC"/>
          </a:solidFill>
          <a:ln w="12700">
            <a:solidFill>
              <a:srgbClr val="E1E6F2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7132320" y="3611880"/>
            <a:ext cx="4251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a rubric, not a hosted LLM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7132320" y="3977640"/>
            <a:ext cx="4251960" cy="1965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build environment has no Azure/OpenAI key configured — and a hosted call would mean candidate data leaving the machine, which undercuts the pitch. A deterministic, template-explained rubric is the stronger answer to “apply responsible-AI principles by default”: 100% explainable, reproducible, and it never phones home.</a:t>
            </a:r>
            <a:endParaRPr lang="en-US" sz="1200" dirty="0"/>
          </a:p>
        </p:txBody>
      </p:sp>
      <p:sp>
        <p:nvSpPr>
          <p:cNvPr id="10" name="Text 7"/>
          <p:cNvSpPr txBox="1"/>
          <p:nvPr/>
        </p:nvSpPr>
        <p:spPr>
          <a:xfrm>
            <a:off x="11551615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Proof: PII never reaches the scorer — and the human overruled it anyway</a:t>
            </a:r>
            <a:endParaRPr lang="en-US" sz="2500" dirty="0"/>
          </a:p>
        </p:txBody>
      </p:sp>
      <p:sp>
        <p:nvSpPr>
          <p:cNvPr id="3" name="Shape 1"/>
          <p:cNvSpPr/>
          <p:nvPr/>
        </p:nvSpPr>
        <p:spPr>
          <a:xfrm>
            <a:off x="493776" y="1362456"/>
            <a:ext cx="6419088" cy="3734689"/>
          </a:xfrm>
          <a:prstGeom prst="rect">
            <a:avLst/>
          </a:prstGeom>
          <a:solidFill>
            <a:srgbClr val="FFFFFF"/>
          </a:solidFill>
          <a:ln w="12700">
            <a:solidFill>
              <a:srgbClr val="D6DCEE"/>
            </a:solidFill>
            <a:prstDash val="solid"/>
          </a:ln>
          <a:effectLst>
            <a:outerShdw sx="100000" sy="100000" kx="0" ky="0" algn="bl" rotWithShape="0" blurRad="127000" dist="38100" dir="5400000">
              <a:srgbClr val="8290B8">
                <a:alpha val="35000"/>
              </a:srgbClr>
            </a:outerShdw>
          </a:effectLst>
        </p:spPr>
      </p:sp>
      <p:pic>
        <p:nvPicPr>
          <p:cNvPr id="4" name="Image 0" descr="C:\Users\HAIRYG~1\AppData\Local\Temp\claude\C--Users-HairyGayMan6969-OneDrive-Desktop-Hackathon-AaltoAI-2026\f90e8f15-a270-4b9e-821a-c6d8ea44d249\scratchpad\shot_redact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417320"/>
            <a:ext cx="6309360" cy="3624961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7178040" y="1554480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redaction diff</a:t>
            </a:r>
            <a:endParaRPr lang="en-US" sz="1700" dirty="0"/>
          </a:p>
        </p:txBody>
      </p:sp>
      <p:sp>
        <p:nvSpPr>
          <p:cNvPr id="6" name="Text 3"/>
          <p:cNvSpPr txBox="1"/>
          <p:nvPr/>
        </p:nvSpPr>
        <p:spPr>
          <a:xfrm>
            <a:off x="7178040" y="1965960"/>
            <a:ext cx="448056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fields — name, email, phone, address, DOB, gender, nationality, photo — are removed outright. Free text gets a second pass: the candidate's own name, age mentions, and pronouns are scrubbed and shown struck through, next to what replaced them. GDPR Art. 5 data minimisation, provable on screen.</a:t>
            </a:r>
            <a:endParaRPr lang="en-US" sz="1300" dirty="0"/>
          </a:p>
        </p:txBody>
      </p:sp>
      <p:sp>
        <p:nvSpPr>
          <p:cNvPr id="7" name="Text 4"/>
          <p:cNvSpPr txBox="1"/>
          <p:nvPr/>
        </p:nvSpPr>
        <p:spPr>
          <a:xfrm>
            <a:off x="7178040" y="3657600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human veto</a:t>
            </a:r>
            <a:endParaRPr lang="en-US" sz="1700" dirty="0"/>
          </a:p>
        </p:txBody>
      </p:sp>
      <p:sp>
        <p:nvSpPr>
          <p:cNvPr id="8" name="Text 5"/>
          <p:cNvSpPr txBox="1"/>
          <p:nvPr/>
        </p:nvSpPr>
        <p:spPr>
          <a:xfrm>
            <a:off x="7178040" y="4069080"/>
            <a:ext cx="44805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candidate scored #1 (93.3). The recruiter rejected them anyway — and because it's a top-3 override, the app would not accept the decision without a written reason. Nothing here is ever auto-finalized.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11551615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Proof: a compliance officer could read this tomorrow</a:t>
            </a:r>
            <a:endParaRPr lang="en-US" sz="27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9728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AI recommendation and every human decision is written to an append-only log in plain English — not a database row a compliance team needs an engineer to decode.</a:t>
            </a:r>
            <a:endParaRPr lang="en-US" sz="1450" dirty="0"/>
          </a:p>
        </p:txBody>
      </p:sp>
      <p:sp>
        <p:nvSpPr>
          <p:cNvPr id="4" name="Shape 2"/>
          <p:cNvSpPr/>
          <p:nvPr/>
        </p:nvSpPr>
        <p:spPr>
          <a:xfrm>
            <a:off x="1423264" y="1773936"/>
            <a:ext cx="9345168" cy="5415830"/>
          </a:xfrm>
          <a:prstGeom prst="rect">
            <a:avLst/>
          </a:prstGeom>
          <a:solidFill>
            <a:srgbClr val="FFFFFF"/>
          </a:solidFill>
          <a:ln w="12700">
            <a:solidFill>
              <a:srgbClr val="D6DCEE"/>
            </a:solidFill>
            <a:prstDash val="solid"/>
          </a:ln>
          <a:effectLst>
            <a:outerShdw sx="100000" sy="100000" kx="0" ky="0" algn="bl" rotWithShape="0" blurRad="127000" dist="38100" dir="5400000">
              <a:srgbClr val="8290B8">
                <a:alpha val="35000"/>
              </a:srgbClr>
            </a:outerShdw>
          </a:effectLst>
        </p:spPr>
      </p:sp>
      <p:pic>
        <p:nvPicPr>
          <p:cNvPr id="5" name="Image 0" descr="C:\Users\HAIRYG~1\AppData\Local\Temp\claude\C--Users-HairyGayMan6969-OneDrive-Desktop-Hackathon-AaltoAI-2026\f90e8f15-a270-4b9e-821a-c6d8ea44d249\scratchpad\shot_auditlo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78128" y="1828800"/>
            <a:ext cx="9235440" cy="5306102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1551615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the AI creates value — without taking the decision away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43000"/>
            <a:ext cx="10789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14 candidates, the rubric produces a consistent, defensible first pass in milliseconds — the same read every recruiter would eventually reach by hand, without fatigue or drift between candidates.</a:t>
            </a:r>
            <a:endParaRPr lang="en-US" sz="145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2011680"/>
          <a:ext cx="11064240" cy="39776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 txBox="1"/>
          <p:nvPr/>
        </p:nvSpPr>
        <p:spPr>
          <a:xfrm>
            <a:off x="11551615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sovereign target architecture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97280"/>
            <a:ext cx="11064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Today's demo runs on one machine with flat files — the hardest claims (no egress, human always decides) are already provable by reading the code. This is the production target it's a proof-of-concept for.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3977640" y="2148840"/>
            <a:ext cx="7680960" cy="4160520"/>
          </a:xfrm>
          <a:prstGeom prst="roundRect">
            <a:avLst>
              <a:gd name="adj" fmla="val 2637"/>
            </a:avLst>
          </a:prstGeom>
          <a:solidFill>
            <a:srgbClr val="EEF2FB"/>
          </a:solidFill>
          <a:ln w="19050">
            <a:solidFill>
              <a:srgbClr val="1E2761"/>
            </a:solidFill>
            <a:prstDash val="dash"/>
          </a:ln>
        </p:spPr>
      </p:sp>
      <p:sp>
        <p:nvSpPr>
          <p:cNvPr id="5" name="Text 3"/>
          <p:cNvSpPr txBox="1"/>
          <p:nvPr/>
        </p:nvSpPr>
        <p:spPr>
          <a:xfrm>
            <a:off x="4206240" y="2286000"/>
            <a:ext cx="7223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 DATA BOUNDARY — WEST EUROPE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48640" y="2788920"/>
            <a:ext cx="2834640" cy="868680"/>
          </a:xfrm>
          <a:prstGeom prst="roundRect">
            <a:avLst>
              <a:gd name="adj" fmla="val 8421"/>
            </a:avLst>
          </a:prstGeom>
          <a:solidFill>
            <a:srgbClr val="C9A227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31520" y="2871216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1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Recruiter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3182112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41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human-in-the-loop, MFA required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548640" y="3977640"/>
            <a:ext cx="2834640" cy="868680"/>
          </a:xfrm>
          <a:prstGeom prst="roundRect">
            <a:avLst>
              <a:gd name="adj" fmla="val 8421"/>
            </a:avLst>
          </a:prstGeom>
          <a:solidFill>
            <a:srgbClr val="E7EAF2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31520" y="4059936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 officer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731520" y="4370832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read-only access to the audit log</a:t>
            </a:r>
            <a:endParaRPr lang="en-US" sz="950" dirty="0"/>
          </a:p>
        </p:txBody>
      </p:sp>
      <p:sp>
        <p:nvSpPr>
          <p:cNvPr id="12" name="Text 10"/>
          <p:cNvSpPr txBox="1"/>
          <p:nvPr/>
        </p:nvSpPr>
        <p:spPr>
          <a:xfrm>
            <a:off x="548640" y="233172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 Entra ID — RBAC + Conditional Access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 flipV="1">
            <a:off x="3383280" y="2834640"/>
            <a:ext cx="594360" cy="365760"/>
          </a:xfrm>
          <a:prstGeom prst="line">
            <a:avLst/>
          </a:prstGeom>
          <a:noFill/>
          <a:ln w="19050">
            <a:solidFill>
              <a:srgbClr val="5B6B8C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3383280" y="4389120"/>
            <a:ext cx="594360" cy="45720"/>
          </a:xfrm>
          <a:prstGeom prst="line">
            <a:avLst/>
          </a:prstGeom>
          <a:noFill/>
          <a:ln w="19050">
            <a:solidFill>
              <a:srgbClr val="5B6B8C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4389120" y="2743200"/>
            <a:ext cx="3291840" cy="1051560"/>
          </a:xfrm>
          <a:prstGeom prst="roundRect">
            <a:avLst>
              <a:gd name="adj" fmla="val 6957"/>
            </a:avLst>
          </a:prstGeom>
          <a:solidFill>
            <a:srgbClr val="1E2761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4526280" y="283464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Hiring Console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4526280" y="3182112"/>
            <a:ext cx="3017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Service / Container Apps — private endpoint only, no public egress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7955280" y="2743200"/>
            <a:ext cx="3291840" cy="1051560"/>
          </a:xfrm>
          <a:prstGeom prst="roundRect">
            <a:avLst>
              <a:gd name="adj" fmla="val 6957"/>
            </a:avLst>
          </a:prstGeom>
          <a:solidFill>
            <a:srgbClr val="1E2761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8092440" y="283464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Compute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8092440" y="3182112"/>
            <a:ext cx="3017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Candidate data decrypted only inside an attested enclave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4389120" y="4114800"/>
            <a:ext cx="3291840" cy="1051560"/>
          </a:xfrm>
          <a:prstGeom prst="roundRect">
            <a:avLst>
              <a:gd name="adj" fmla="val 6957"/>
            </a:avLst>
          </a:prstGeom>
          <a:solidFill>
            <a:srgbClr val="1E2761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4526280" y="420624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Vault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4526280" y="4553712"/>
            <a:ext cx="3017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Customer-managed keys — the tenant controls key revocation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7955280" y="4114800"/>
            <a:ext cx="3291840" cy="1051560"/>
          </a:xfrm>
          <a:prstGeom prst="roundRect">
            <a:avLst>
              <a:gd name="adj" fmla="val 6957"/>
            </a:avLst>
          </a:prstGeom>
          <a:solidFill>
            <a:srgbClr val="1E2761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8092440" y="420624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 + Purview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8092440" y="4553712"/>
            <a:ext cx="3017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Immutable (WORM) audit log; data classified and lineage-tracked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7680960" y="3264408"/>
            <a:ext cx="274320" cy="9144"/>
          </a:xfrm>
          <a:prstGeom prst="line">
            <a:avLst/>
          </a:prstGeom>
          <a:noFill/>
          <a:ln w="19050">
            <a:solidFill>
              <a:srgbClr val="5B6B8C"/>
            </a:solidFill>
            <a:prstDash val="solid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6035040" y="3794760"/>
            <a:ext cx="9144" cy="320040"/>
          </a:xfrm>
          <a:prstGeom prst="line">
            <a:avLst/>
          </a:prstGeom>
          <a:noFill/>
          <a:ln w="19050">
            <a:solidFill>
              <a:srgbClr val="5B6B8C"/>
            </a:solidFill>
            <a:prstDash val="solid"/>
            <a:tailEnd type="triangle"/>
          </a:ln>
        </p:spPr>
      </p:sp>
      <p:sp>
        <p:nvSpPr>
          <p:cNvPr id="29" name="Shape 27"/>
          <p:cNvSpPr/>
          <p:nvPr/>
        </p:nvSpPr>
        <p:spPr>
          <a:xfrm>
            <a:off x="9601200" y="3794760"/>
            <a:ext cx="9144" cy="320040"/>
          </a:xfrm>
          <a:prstGeom prst="line">
            <a:avLst/>
          </a:prstGeom>
          <a:noFill/>
          <a:ln w="19050">
            <a:solidFill>
              <a:srgbClr val="5B6B8C"/>
            </a:solidFill>
            <a:prstDash val="solid"/>
            <a:tailEnd type="triangle"/>
          </a:ln>
        </p:spPr>
      </p:sp>
      <p:sp>
        <p:nvSpPr>
          <p:cNvPr id="30" name="Text 28"/>
          <p:cNvSpPr txBox="1"/>
          <p:nvPr/>
        </p:nvSpPr>
        <p:spPr>
          <a:xfrm>
            <a:off x="11551615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Does it meet the bar?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554480"/>
            <a:ext cx="502920" cy="502920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15544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1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1234440" y="1536192"/>
            <a:ext cx="9966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real, believable problem for a real user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234440" y="1883664"/>
            <a:ext cx="9966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recruiter screening 14 real-shaped candidates against one job — not a toy dataset.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48640" y="2743200"/>
            <a:ext cx="502920" cy="502920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48640" y="27432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1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234440" y="2724912"/>
            <a:ext cx="9966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Sensitive data shown, not claimed, to stay under control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1234440" y="3072384"/>
            <a:ext cx="9966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redaction diff (slide 5) and the zero-network-call server code are both on screen and in the repo.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48640" y="3931920"/>
            <a:ext cx="502920" cy="502920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548640" y="39319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1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1234440" y="3913632"/>
            <a:ext cx="9966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concrete privacy technique + one human oversight moment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1234440" y="4261104"/>
            <a:ext cx="9966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PII stripping and free-text scrubbing (Art. 5) + the mandatory approve/reject veto with override reasons (Art. 22, Annex III).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548640" y="5120640"/>
            <a:ext cx="502920" cy="502920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548640" y="51206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1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1234440" y="5102352"/>
            <a:ext cx="9966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working end-to-end demo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1234440" y="5449824"/>
            <a:ext cx="9966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screenshot in this deck is the real app, running locally, with 28 passing automated tests behind it.</a:t>
            </a:r>
            <a:endParaRPr lang="en-US" sz="1250" dirty="0"/>
          </a:p>
        </p:txBody>
      </p:sp>
      <p:sp>
        <p:nvSpPr>
          <p:cNvPr id="19" name="Text 17"/>
          <p:cNvSpPr txBox="1"/>
          <p:nvPr/>
        </p:nvSpPr>
        <p:spPr>
          <a:xfrm>
            <a:off x="11551615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3931920"/>
            <a:ext cx="4754880" cy="4754880"/>
          </a:xfrm>
          <a:prstGeom prst="ellipse">
            <a:avLst/>
          </a:prstGeom>
          <a:solidFill>
            <a:srgbClr val="141B45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1965960"/>
            <a:ext cx="9144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Try it yourself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822960" y="2834640"/>
            <a:ext cx="8046720" cy="777240"/>
          </a:xfrm>
          <a:prstGeom prst="roundRect">
            <a:avLst>
              <a:gd name="adj" fmla="val 9412"/>
            </a:avLst>
          </a:prstGeom>
          <a:solidFill>
            <a:srgbClr val="141B45"/>
          </a:solidFill>
          <a:ln w="12700">
            <a:solidFill>
              <a:srgbClr val="3A468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51560" y="2971800"/>
            <a:ext cx="7589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 app/server.py    →    http://localhost:8080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3794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pip install. No API key. No data leaves the machine.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6035040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FA6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Sovereign Hiring Console — What becomes possible when trust is built in.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2026-09-19T21:37:09Z</dcterms:created>
  <dcterms:modified xsi:type="dcterms:W3CDTF">2026-09-19T21:37:09Z</dcterms:modified>
</cp:coreProperties>
</file>